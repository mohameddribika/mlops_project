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46304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Development and Evaluation of an MLflow-based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146304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ML Lifecycle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33272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2200" b="0">
                <a:solidFill>
                  <a:srgbClr val="14B8A6"/>
                </a:solidFill>
                <a:latin typeface="Calibri"/>
              </a:rPr>
              <a:t>Telco Customer Churn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AIN-3009  MLOps  ·  Term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Mohamed Dribika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80760"/>
            <a:ext cx="103327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0">
                <a:solidFill>
                  <a:srgbClr val="14B8A6"/>
                </a:solidFill>
                <a:latin typeface="Calibri"/>
              </a:rPr>
              <a:t>Student # 2280197 · Bahçeşehir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94360"/>
            <a:ext cx="109728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000" b="1">
                <a:solidFill>
                  <a:srgbClr val="21295C"/>
                </a:solidFill>
                <a:latin typeface="Calibri"/>
              </a:rP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Predict customer churn for a telecom operator.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621792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7293"/>
                </a:solidFill>
                <a:latin typeface="Calibri"/>
              </a:rPr>
              <a:t>•  </a:t>
            </a:r>
            <a:r>
              <a:rPr sz="1700" b="0">
                <a:solidFill>
                  <a:srgbClr val="0F172A"/>
                </a:solidFill>
                <a:latin typeface="Calibri"/>
              </a:rPr>
              <a:t>Retention is far cheaper than acquisition.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7293"/>
                </a:solidFill>
                <a:latin typeface="Calibri"/>
              </a:rPr>
              <a:t>•  </a:t>
            </a:r>
            <a:r>
              <a:rPr sz="1700" b="0">
                <a:solidFill>
                  <a:srgbClr val="0F172A"/>
                </a:solidFill>
                <a:latin typeface="Calibri"/>
              </a:rPr>
              <a:t>Goal: flag customers likely to cancel within the next billing cycle.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7293"/>
                </a:solidFill>
                <a:latin typeface="Calibri"/>
              </a:rPr>
              <a:t>•  </a:t>
            </a:r>
            <a:r>
              <a:rPr sz="1700" b="0">
                <a:solidFill>
                  <a:srgbClr val="0F172A"/>
                </a:solidFill>
                <a:latin typeface="Calibri"/>
              </a:rPr>
              <a:t>Binary classification: Churn ∈ {0, 1}.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C7293"/>
                </a:solidFill>
                <a:latin typeface="Calibri"/>
              </a:rPr>
              <a:t>•  </a:t>
            </a:r>
            <a:r>
              <a:rPr sz="1700" b="0">
                <a:solidFill>
                  <a:srgbClr val="0F172A"/>
                </a:solidFill>
                <a:latin typeface="Calibri"/>
              </a:rPr>
              <a:t>Stratified split — 70 % train · 10 % validation · 20 % test.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828800"/>
            <a:ext cx="24688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40880" y="1828800"/>
            <a:ext cx="73152" cy="1417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2011680"/>
            <a:ext cx="21945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200" b="1">
                <a:solidFill>
                  <a:srgbClr val="1C7293"/>
                </a:solidFill>
                <a:latin typeface="Calibri"/>
              </a:rPr>
              <a:t>7,043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697480"/>
            <a:ext cx="21945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Customers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46920" y="1828800"/>
            <a:ext cx="24688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46920" y="1828800"/>
            <a:ext cx="73152" cy="1417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9800" y="2011680"/>
            <a:ext cx="21945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200" b="1">
                <a:solidFill>
                  <a:srgbClr val="1C7293"/>
                </a:solidFill>
                <a:latin typeface="Calibri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697480"/>
            <a:ext cx="21945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3383280"/>
            <a:ext cx="24688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40880" y="3383280"/>
            <a:ext cx="73152" cy="1417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566160"/>
            <a:ext cx="21945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200" b="1">
                <a:solidFill>
                  <a:srgbClr val="1C7293"/>
                </a:solidFill>
                <a:latin typeface="Calibri"/>
              </a:rPr>
              <a:t>26.5%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251960"/>
            <a:ext cx="21945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Positive class (churn)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46920" y="3383280"/>
            <a:ext cx="24688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46920" y="3383280"/>
            <a:ext cx="73152" cy="1417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29800" y="3566160"/>
            <a:ext cx="21945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200" b="1">
                <a:solidFill>
                  <a:srgbClr val="1C7293"/>
                </a:solidFill>
                <a:latin typeface="Calibri"/>
              </a:rPr>
              <a:t>15 /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4251960"/>
            <a:ext cx="21945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Categorical / numeric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84264"/>
            <a:ext cx="54864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Slide 2 · Problem &amp; Dataset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684264"/>
            <a:ext cx="36576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Mohamed Dribika · 2280197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94360"/>
            <a:ext cx="109728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000" b="1">
                <a:solidFill>
                  <a:srgbClr val="21295C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Six MLflow-managed stages, single tracking store.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057400"/>
            <a:ext cx="17678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057400"/>
            <a:ext cx="17678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5849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onsolas"/>
              </a:rPr>
              <a:t>data_loader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70632"/>
            <a:ext cx="15849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load · clean · split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51888" y="2743200"/>
            <a:ext cx="128015" cy="164592"/>
          </a:xfrm>
          <a:prstGeom prst="rightArrow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98192" y="2057400"/>
            <a:ext cx="17678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98192" y="2057400"/>
            <a:ext cx="17678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89632" y="2240280"/>
            <a:ext cx="15849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onsolas"/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89632" y="2770632"/>
            <a:ext cx="15849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3 baselines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84319" y="2743200"/>
            <a:ext cx="128015" cy="164592"/>
          </a:xfrm>
          <a:prstGeom prst="rightArrow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0624" y="2057400"/>
            <a:ext cx="17678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30624" y="2057400"/>
            <a:ext cx="17678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2064" y="2240280"/>
            <a:ext cx="15849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onsolas"/>
              </a:rPr>
              <a:t>tune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2064" y="2770632"/>
            <a:ext cx="15849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Hyperopt TPE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6752" y="2743200"/>
            <a:ext cx="128015" cy="164592"/>
          </a:xfrm>
          <a:prstGeom prst="rightArrow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3056" y="2057400"/>
            <a:ext cx="17678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3056" y="2057400"/>
            <a:ext cx="17678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4496" y="2240280"/>
            <a:ext cx="15849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onsolas"/>
              </a:rPr>
              <a:t>registry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2770632"/>
            <a:ext cx="15849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staging → production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49184" y="2743200"/>
            <a:ext cx="128015" cy="164592"/>
          </a:xfrm>
          <a:prstGeom prst="rightArrow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5488" y="2057400"/>
            <a:ext cx="17678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5488" y="2057400"/>
            <a:ext cx="17678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6928" y="2240280"/>
            <a:ext cx="15849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onsolas"/>
              </a:rPr>
              <a:t>serve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6928" y="2770632"/>
            <a:ext cx="15849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mlflow models serve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881616" y="2743200"/>
            <a:ext cx="128015" cy="164592"/>
          </a:xfrm>
          <a:prstGeom prst="rightArrow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27920" y="2057400"/>
            <a:ext cx="17678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27920" y="2057400"/>
            <a:ext cx="176784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19360" y="2240280"/>
            <a:ext cx="158496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onsolas"/>
              </a:rPr>
              <a:t>monitor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9360" y="2770632"/>
            <a:ext cx="15849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PSI · KS · drift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977639"/>
            <a:ext cx="11430000" cy="1188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069080"/>
            <a:ext cx="114300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MLflow Tracking Server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434840"/>
            <a:ext cx="114300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0">
                <a:solidFill>
                  <a:srgbClr val="14B8A6"/>
                </a:solidFill>
                <a:latin typeface="Calibri"/>
              </a:rPr>
              <a:t>SQLite backend store · local filesystem artifact root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754880"/>
            <a:ext cx="114300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Experiments: telco_churn · telco_churn_monitoring · Registered model: telco-churn-classifier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84264"/>
            <a:ext cx="54864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Slide 3 · System architecture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6684264"/>
            <a:ext cx="36576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Mohamed Dribika · 2280197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94360"/>
            <a:ext cx="109728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000" b="1">
                <a:solidFill>
                  <a:srgbClr val="21295C"/>
                </a:solidFill>
                <a:latin typeface="Calibri"/>
              </a:rPr>
              <a:t>Experiment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Three baselines · all params, metrics, plots logged to MLflow.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94360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•  </a:t>
            </a:r>
            <a:r>
              <a:rPr sz="1600" b="0">
                <a:solidFill>
                  <a:srgbClr val="0F172A"/>
                </a:solidFill>
                <a:latin typeface="Calibri"/>
              </a:rPr>
              <a:t>Models: LogisticRegression, RandomForestClassifier, GradientBoostingClassifier.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•  </a:t>
            </a:r>
            <a:r>
              <a:rPr sz="1600" b="0">
                <a:solidFill>
                  <a:srgbClr val="0F172A"/>
                </a:solidFill>
                <a:latin typeface="Calibri"/>
              </a:rPr>
              <a:t>Each run logs params, train/val/test metrics, ROC + confusion-matrix plots.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•  </a:t>
            </a:r>
            <a:r>
              <a:rPr sz="1600" b="0">
                <a:solidFill>
                  <a:srgbClr val="0F172A"/>
                </a:solidFill>
                <a:latin typeface="Calibri"/>
              </a:rPr>
              <a:t>Model artifact is the full sklearn Pipeline with signature + input example.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•  </a:t>
            </a:r>
            <a:r>
              <a:rPr sz="1600" b="0">
                <a:solidFill>
                  <a:srgbClr val="0F172A"/>
                </a:solidFill>
                <a:latin typeface="Calibri"/>
              </a:rPr>
              <a:t>Backend: SQLite. Demo: switch to MLflow UI, open one baseline run.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828800"/>
            <a:ext cx="4754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40880" y="1828800"/>
            <a:ext cx="4754880" cy="50292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901952"/>
            <a:ext cx="21945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901952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Test 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1901952"/>
            <a:ext cx="100584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Test 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9168" y="2350008"/>
            <a:ext cx="4718304" cy="786384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2514600"/>
            <a:ext cx="21945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LogisticRegression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2514600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1">
                <a:solidFill>
                  <a:srgbClr val="14B8A6"/>
                </a:solidFill>
                <a:latin typeface="Calibri"/>
              </a:rPr>
              <a:t>0.8426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2514600"/>
            <a:ext cx="100584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Calibri"/>
              </a:rPr>
              <a:t>0.605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9168" y="3191256"/>
            <a:ext cx="4718304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355848"/>
            <a:ext cx="21945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GradientBoosting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3355848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Calibri"/>
              </a:rPr>
              <a:t>0.8390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3355848"/>
            <a:ext cx="100584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Calibri"/>
              </a:rPr>
              <a:t>0.571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9168" y="4032503"/>
            <a:ext cx="4718304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4197096"/>
            <a:ext cx="21945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</a:rPr>
              <a:t>RandomForest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197096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Calibri"/>
              </a:rPr>
              <a:t>0.8223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4197096"/>
            <a:ext cx="100584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Calibri"/>
              </a:rPr>
              <a:t>0.539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937760"/>
            <a:ext cx="475488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Aside: simple linear model wins out of the box.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84264"/>
            <a:ext cx="54864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Slide 4 · Experiment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684264"/>
            <a:ext cx="36576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Mohamed Dribika · 2280197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94360"/>
            <a:ext cx="109728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000" b="1">
                <a:solidFill>
                  <a:srgbClr val="21295C"/>
                </a:solidFill>
                <a:latin typeface="Calibri"/>
              </a:rPr>
              <a:t>Hyperparameter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Hyperopt TPE over Gradient Boosting · 20 trials · nested MLflow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•  </a:t>
            </a:r>
            <a:r>
              <a:rPr sz="1600" b="0">
                <a:solidFill>
                  <a:srgbClr val="0F172A"/>
                </a:solidFill>
                <a:latin typeface="Calibri"/>
              </a:rPr>
              <a:t>Search space: n_estimators, learning_rate, max_depth, min_samples_leaf, min_samples_split, subsample.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•  </a:t>
            </a:r>
            <a:r>
              <a:rPr sz="1600" b="0">
                <a:solidFill>
                  <a:srgbClr val="0F172A"/>
                </a:solidFill>
                <a:latin typeface="Calibri"/>
              </a:rPr>
              <a:t>Parent run = the whole search; each trial = a nested child run with its own params/metrics.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•  </a:t>
            </a:r>
            <a:r>
              <a:rPr sz="1600" b="0">
                <a:solidFill>
                  <a:srgbClr val="0F172A"/>
                </a:solidFill>
                <a:latin typeface="Calibri"/>
              </a:rPr>
              <a:t>All 20 trials browsable as a sortable table in the MLflow UI.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C7293"/>
                </a:solidFill>
                <a:latin typeface="Calibri"/>
              </a:rPr>
              <a:t>•  </a:t>
            </a:r>
            <a:r>
              <a:rPr sz="1600" b="0">
                <a:solidFill>
                  <a:srgbClr val="0F172A"/>
                </a:solidFill>
                <a:latin typeface="Calibri"/>
              </a:rPr>
              <a:t>Best test ROC-AUC: 0.8457 — tuned GB now beats LogReg.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2103120"/>
            <a:ext cx="4206240" cy="329184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2103120"/>
            <a:ext cx="4206240" cy="7315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286000"/>
            <a:ext cx="384048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400" b="0">
                <a:solidFill>
                  <a:srgbClr val="14B8A6"/>
                </a:solidFill>
                <a:latin typeface="Calibri"/>
              </a:rPr>
              <a:t>Best test ROC-AUC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697480"/>
            <a:ext cx="4206240" cy="118872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0.8457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977639"/>
            <a:ext cx="384048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300" b="0">
                <a:solidFill>
                  <a:srgbClr val="14B8A6"/>
                </a:solidFill>
                <a:latin typeface="Calibri"/>
              </a:rPr>
              <a:t>↑ from 0.8390 baseline (+0.007)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572000"/>
            <a:ext cx="384048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learning_rate=0.018 · depth=5
leaf=18 · subsample=0.63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84264"/>
            <a:ext cx="54864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Slide 5 · Hyperparameter tuning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684264"/>
            <a:ext cx="36576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Mohamed Dribika · 2280197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94360"/>
            <a:ext cx="109728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000" b="1">
                <a:solidFill>
                  <a:srgbClr val="21295C"/>
                </a:solidFill>
                <a:latin typeface="Calibri"/>
              </a:rPr>
              <a:t>Model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Best run promoted via aliases — staging → production.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2011680"/>
            <a:ext cx="32918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291840" cy="50292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887" y="2084832"/>
            <a:ext cx="2926080" cy="4114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onsolas"/>
              </a:rPr>
              <a:t>None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887" y="2788920"/>
            <a:ext cx="292608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fresh model 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887" y="3246120"/>
            <a:ext cx="292608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model version 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882999" y="2788920"/>
            <a:ext cx="493775" cy="274320"/>
          </a:xfrm>
          <a:prstGeom prst="rightArrow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9927" y="2011680"/>
            <a:ext cx="32918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9927" y="2011680"/>
            <a:ext cx="329184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2084832"/>
            <a:ext cx="2926080" cy="4114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onsolas"/>
              </a:rPr>
              <a:t>@staging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2788920"/>
            <a:ext cx="292608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candidate · QA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3246120"/>
            <a:ext cx="292608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alias set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14919" y="2788920"/>
            <a:ext cx="493775" cy="274320"/>
          </a:xfrm>
          <a:prstGeom prst="rightArrow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81847" y="2011680"/>
            <a:ext cx="32918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81847" y="2011680"/>
            <a:ext cx="3291840" cy="5029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4727" y="2084832"/>
            <a:ext cx="2926080" cy="4114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onsolas"/>
              </a:rPr>
              <a:t>@production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4727" y="2788920"/>
            <a:ext cx="292608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400" b="0">
                <a:solidFill>
                  <a:srgbClr val="0F172A"/>
                </a:solidFill>
                <a:latin typeface="Calibri"/>
              </a:rPr>
              <a:t>serves /invocations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4727" y="3246120"/>
            <a:ext cx="292608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alias 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11064240" cy="14630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370832"/>
            <a:ext cx="36576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100" b="1">
                <a:solidFill>
                  <a:srgbClr val="14B8A6"/>
                </a:solidFill>
                <a:latin typeface="Consolas"/>
              </a:rPr>
              <a:t>CLI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617720"/>
            <a:ext cx="10972800" cy="10972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onsolas"/>
              </a:rPr>
              <a:t>python -m src.registry register-best
python -m src.registry transition 2 staging
python -m src.registry transition 2 production
python -m src.registry list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84264"/>
            <a:ext cx="54864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Slide 6 · Model Registry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6684264"/>
            <a:ext cx="36576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Mohamed Dribika · 2280197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94360"/>
            <a:ext cx="109728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000" b="1">
                <a:solidFill>
                  <a:srgbClr val="21295C"/>
                </a:solidFill>
                <a:latin typeface="Calibri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MLflow's built-in scoring server — zero serving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54864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73152" cy="4297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5303520" cy="4114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21295C"/>
                </a:solidFill>
                <a:latin typeface="Calibri"/>
              </a:rPr>
              <a:t>Launch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31720"/>
            <a:ext cx="5120640" cy="16916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95728"/>
            <a:ext cx="4937760" cy="1600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mlflow models serve \
  --model-uri \
    models:/telco-churn-classifier@production \
  --port 5001 \
  --no-conda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53035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21295C"/>
                </a:solidFill>
                <a:latin typeface="Calibri"/>
              </a:rPr>
              <a:t>Endpoints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6280"/>
            <a:ext cx="512064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 b="0">
                <a:solidFill>
                  <a:srgbClr val="0F172A"/>
                </a:solidFill>
                <a:latin typeface="Calibri"/>
              </a:rPr>
              <a:t>GET  /ping             health check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•  </a:t>
            </a:r>
            <a:r>
              <a:rPr sz="1200" b="0">
                <a:solidFill>
                  <a:srgbClr val="0F172A"/>
                </a:solidFill>
                <a:latin typeface="Calibri"/>
              </a:rPr>
              <a:t>POST /invocations      dataframe_split payload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83080"/>
            <a:ext cx="54864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73152" cy="42976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920240"/>
            <a:ext cx="5303520" cy="4114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21295C"/>
                </a:solidFill>
                <a:latin typeface="Calibri"/>
              </a:rPr>
              <a:t>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331720"/>
            <a:ext cx="5120640" cy="14173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395728"/>
            <a:ext cx="4937760" cy="13258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{ "dataframe_split": {
    "columns": [...19 features...],
    "data":    [[ "Female", 0, "Yes", ... ]]
}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86200"/>
            <a:ext cx="5303520" cy="4114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21295C"/>
                </a:solidFill>
                <a:latin typeface="Calibri"/>
              </a:rPr>
              <a:t>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4297680"/>
            <a:ext cx="5120640" cy="82296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407408"/>
            <a:ext cx="493776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Consolas"/>
              </a:rPr>
              <a:t>{ "predictions": [0, 1, 0]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257800"/>
            <a:ext cx="53035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MLflow reconstructs the sklearn Pipeline from the registry artifact.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84264"/>
            <a:ext cx="54864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Slide 7 ·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84264"/>
            <a:ext cx="36576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Mohamed Dribika · 2280197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94360"/>
            <a:ext cx="109728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000" b="1">
                <a:solidFill>
                  <a:srgbClr val="21295C"/>
                </a:solidFill>
                <a:latin typeface="Calibri"/>
              </a:rPr>
              <a:t>Drift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Three simulated production batches · logged as MLflow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73152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7315200" cy="50292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920239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79" y="1920240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max PSI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920240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1920240"/>
            <a:ext cx="21031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prod_roc_auc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350008"/>
            <a:ext cx="7278624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514600"/>
            <a:ext cx="21031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onsolas"/>
              </a:rPr>
              <a:t>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2514600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0.02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514600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514600"/>
            <a:ext cx="21031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0.834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191256"/>
            <a:ext cx="7278624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355848"/>
            <a:ext cx="21031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onsolas"/>
              </a:rPr>
              <a:t>feature_drift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355848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Calibri"/>
              </a:rPr>
              <a:t>1.49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355848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3355848"/>
            <a:ext cx="21031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0.843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4032503"/>
            <a:ext cx="7278624" cy="786384"/>
          </a:xfrm>
          <a:prstGeom prst="rect">
            <a:avLst/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97096"/>
            <a:ext cx="21031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onsolas"/>
              </a:rPr>
              <a:t>concept_drift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79" y="4197096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0.02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4197096"/>
            <a:ext cx="128016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197096"/>
            <a:ext cx="21031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  <a:latin typeface="Calibri"/>
              </a:rPr>
              <a:t>0.654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79" y="1828800"/>
            <a:ext cx="3794760" cy="310896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55279" y="1828800"/>
            <a:ext cx="73152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1920240"/>
            <a:ext cx="361188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Calibri"/>
              </a:rPr>
              <a:t>Key insight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2331720"/>
            <a:ext cx="3611880" cy="9144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PSI fires correctly on feature drift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3017520"/>
            <a:ext cx="3611880" cy="9144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Performance stays stable under that drift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3703320"/>
            <a:ext cx="3611880" cy="118872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Concept drift is invisible to PSI — features unchanged, but performance collapses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500" b="1">
                <a:solidFill>
                  <a:srgbClr val="21295C"/>
                </a:solidFill>
                <a:latin typeface="Calibri"/>
              </a:rPr>
              <a:t>→ Monitor both input distributions AND performance metrics.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All three batches captured in the telco_churn_monitoring experiment, with Evidently HTML reports attached.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84264"/>
            <a:ext cx="54864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Slide 8 · Drift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6684264"/>
            <a:ext cx="36576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Mohamed Dribika · 2280197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94360"/>
            <a:ext cx="109728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000" b="1">
                <a:solidFill>
                  <a:srgbClr val="21295C"/>
                </a:solidFill>
                <a:latin typeface="Calibri"/>
              </a:rPr>
              <a:t>What MLflow Gave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Four concrete wins observed during the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83080"/>
            <a:ext cx="112471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73152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107899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alibri"/>
              </a:rPr>
              <a:t>Single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1078992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Every param, metric, and artifact lives in one searchable store.
No ad-hoc spreadsheets or screenshots.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12471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73152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54679"/>
            <a:ext cx="107899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alibri"/>
              </a:rPr>
              <a:t>Registry decouples training from serving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20439"/>
            <a:ext cx="1078992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Promoting a new model is a one-line alias change; the serving
layer reads from @production and never imports model code.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2471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251960"/>
            <a:ext cx="73152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89120"/>
            <a:ext cx="107899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alibri"/>
              </a:rPr>
              <a:t>Pipeline-as-artifact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54880"/>
            <a:ext cx="1078992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The full sklearn Pipeline (preprocessor + estimator) is the model.
Eliminates an entire class of training/serving skew bugs.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486400"/>
            <a:ext cx="112471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486400"/>
            <a:ext cx="73152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623560"/>
            <a:ext cx="1078992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500" b="1">
                <a:solidFill>
                  <a:srgbClr val="21295C"/>
                </a:solidFill>
                <a:latin typeface="Calibri"/>
              </a:rPr>
              <a:t>One API for the whole lifecycle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89320"/>
            <a:ext cx="1078992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200" b="0">
                <a:solidFill>
                  <a:srgbClr val="0F172A"/>
                </a:solidFill>
                <a:latin typeface="Calibri"/>
              </a:rPr>
              <a:t>train · tune · register · serve · monitor all use the same client.
Small surface area to learn and operate.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84264"/>
            <a:ext cx="54864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Slide 9 · What MLflow gave 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84264"/>
            <a:ext cx="3657600" cy="164592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Calibri"/>
              </a:rPr>
              <a:t>Mohamed Dribika · 2280197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6304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972800" cy="64008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0972800" cy="365760"/>
          </a:xfrm>
          <a:prstGeom prst="rect">
            <a:avLst/>
          </a:prstGeom>
          <a:noFill/>
        </p:spPr>
        <p:txBody>
          <a:bodyPr wrap="square" tIns="91440" bIns="91440" anchor="t">
            <a:spAutoFit/>
          </a:bodyPr>
          <a:lstStyle/>
          <a:p>
            <a:pPr algn="l"/>
            <a:r>
              <a:rPr sz="1600" b="0">
                <a:solidFill>
                  <a:srgbClr val="14B8A6"/>
                </a:solidFill>
                <a:latin typeface="Calibri"/>
              </a:rPr>
              <a:t>Honest gaps &amp; what would change in a real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1247120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1C7293"/>
                </a:solidFill>
                <a:latin typeface="Calibri"/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Threshold not tuned — using 0.5; production needs a cost-aware threshold.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C7293"/>
                </a:solidFill>
                <a:latin typeface="Calibri"/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No automatic rollback on drift alert — natural extension is gating the @production alias on a rolling performance window.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C7293"/>
                </a:solidFill>
                <a:latin typeface="Calibri"/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Local SQLite backend store; multi-writer production would use Postgres + S3 / GCS.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1C7293"/>
                </a:solidFill>
                <a:latin typeface="Calibri"/>
              </a:rPr>
              <a:t>•  </a:t>
            </a:r>
            <a:r>
              <a:rPr sz="1500" b="0">
                <a:solidFill>
                  <a:srgbClr val="FFFFFF"/>
                </a:solidFill>
                <a:latin typeface="Calibri"/>
              </a:rPr>
              <a:t>Class imbalance only mild (~27 %), so no SMOTE / class weights — worth a sweep for F1-vs-recall trade-off.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440680"/>
            <a:ext cx="11247120" cy="822960"/>
          </a:xfrm>
          <a:prstGeom prst="rect">
            <a:avLst/>
          </a:prstGeom>
          <a:noFill/>
        </p:spPr>
        <p:txBody>
          <a:bodyPr wrap="square" tIns="91440" bIns="91440" anchor="ctr">
            <a:spAutoFit/>
          </a:bodyPr>
          <a:lstStyle/>
          <a:p>
            <a:pPr algn="ctr"/>
            <a:r>
              <a:rPr sz="4400" b="1">
                <a:solidFill>
                  <a:srgbClr val="21295C"/>
                </a:solidFill>
                <a:latin typeface="Calibri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