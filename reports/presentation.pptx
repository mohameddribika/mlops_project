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Bahçeşehir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07008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Faculty of Engineering &amp; 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99616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Department of Artificial Intelligence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23744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1" i="0">
                <a:solidFill>
                  <a:srgbClr val="0B2A4A"/>
                </a:solidFill>
                <a:latin typeface="Calibri"/>
              </a:rPr>
              <a:t>Development and Evaluation of an MLflow-based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6664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1" i="0">
                <a:solidFill>
                  <a:srgbClr val="0B2A4A"/>
                </a:solidFill>
                <a:latin typeface="Calibri"/>
              </a:rPr>
              <a:t>ML Lifecycle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66744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 i="1">
                <a:solidFill>
                  <a:srgbClr val="1A1A1A"/>
                </a:solidFill>
                <a:latin typeface="Calibri"/>
              </a:rPr>
              <a:t>Telco Customer Churn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4123944"/>
            <a:ext cx="3200400" cy="152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81144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Course: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8114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AIN-3009 — MLOps (Term Project)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55464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Author: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5546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Mohamed Dribika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9784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Student number: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2978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2280197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04104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Academic year: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40410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Problem &amp;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Predict customer churn for a telecommunications operator.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7665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Retention is far cheaper than acquisition — predict cancellation before the next billing cycle.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Binary classification: Churn ∈ {0, 1}.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Dataset: IBM Telco Customer Churn — 7,043 customers, 20 features (15 categorical, 4 numeric).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Class prevalence: 26.5 % positive (mild imbalance).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Stratified split: 70 % train · 10 % validation · 20 %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011680"/>
            <a:ext cx="3931920" cy="393192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Dataset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651760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65176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7,043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926080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035808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358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310128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419856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Categorical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419856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3694176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3803904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Numeric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803904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078224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187952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Positive 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187952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26.5 %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4462272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4572000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Train / Val /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57200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4,929 / 705 / 1,409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4846320"/>
            <a:ext cx="3611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2 · Problem &amp;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Six MLflow-managed stages backed by a single tracking store.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711452" cy="141732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data_loader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load · clean · split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78380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4684" y="2103120"/>
            <a:ext cx="1711452" cy="141732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6124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6124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three baselines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54423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0728" y="2103120"/>
            <a:ext cx="1711452" cy="141732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2167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tune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2167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Hyperopt TPE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0468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6772" y="2103120"/>
            <a:ext cx="1711452" cy="141732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8212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8212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staging → production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06512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2816" y="2103120"/>
            <a:ext cx="1711452" cy="141732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4256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4256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mlflow models serve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82556" y="2743200"/>
            <a:ext cx="128015" cy="164592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8860" y="2103120"/>
            <a:ext cx="1711452" cy="141732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20299" y="2267712"/>
            <a:ext cx="15285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onsolas"/>
              </a:rPr>
              <a:t>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0299" y="2788920"/>
            <a:ext cx="152857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PSI · KS · drift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11091672" cy="12801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33087"/>
            <a:ext cx="110916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MLflow Tracking 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11091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SQLite backend store · local filesystem artifact root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00600"/>
            <a:ext cx="110916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Experiments: telco_churn (training + tuning), telco_churn_monitoring · Registered model: telco-churn-classifier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3 · System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Experiment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Three baseline classifiers, all parameters and metrics logged.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2179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Models: LogisticRegression, RandomForestClassifier, GradientBoostingClassifier.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Each run logs parameters, train/val/test metrics, ROC curve, confusion matrix.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Model artifact is the full sklearn Pipeline with inferred signature + input example.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Demo: MLflow UI · open one baseline run, show metrics tab.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057400"/>
            <a:ext cx="4754880" cy="411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103120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103120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2103120"/>
            <a:ext cx="1005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58775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LogisticRegression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58775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0.8426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2587752"/>
            <a:ext cx="1005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0.605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971800"/>
            <a:ext cx="4754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309067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GradientBoosting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09067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0.8390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3090672"/>
            <a:ext cx="1005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0.571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3474720"/>
            <a:ext cx="4754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593591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RandomForest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593591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0.8223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3593591"/>
            <a:ext cx="1005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0.539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977639"/>
            <a:ext cx="475488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11480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1">
                <a:solidFill>
                  <a:srgbClr val="5A5A5A"/>
                </a:solidFill>
                <a:latin typeface="Calibri"/>
              </a:rPr>
              <a:t>LogisticRegression is the strongest baseline out of the box.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4 · Experiment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Hyperopt TPE over Gradient Boosting · 20 trials · nested MLflow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Search space: n_estimators, learning_rate, max_depth, min_samples_leaf, min_samples_split, subsample.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Parent run holds the full search; each trial is a nested child run with its own parameters and metrics.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All 20 trials browsable as a sortable table in the MLflow UI.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Tuned Gradient Boosting beats every baseline including LogReg.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103120"/>
            <a:ext cx="3931920" cy="347472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286000"/>
            <a:ext cx="3931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Best test 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697479"/>
            <a:ext cx="39319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5800" b="1" i="0">
                <a:solidFill>
                  <a:srgbClr val="0B2A4A"/>
                </a:solidFill>
                <a:latin typeface="Calibri"/>
              </a:rPr>
              <a:t>0.8457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3886200"/>
            <a:ext cx="1371600" cy="76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4023360"/>
            <a:ext cx="3931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1A1A1A"/>
                </a:solidFill>
                <a:latin typeface="Calibri"/>
              </a:rPr>
              <a:t>Tuned Gradient 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26279"/>
            <a:ext cx="356616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learning_rate = 0.018     n_estimators = 225
max_depth     = 5         min_samples_leaf = 18
subsample     = 0.63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5 · Hyperparameter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Model Registry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Best run promoted via MLflow aliases — staging →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007" y="2103120"/>
            <a:ext cx="3291840" cy="169164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8007" y="2103120"/>
            <a:ext cx="3291840" cy="4114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887" y="2139696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697479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fresh model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20040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model version 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82999" y="2880360"/>
            <a:ext cx="493775" cy="201168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9927" y="2103120"/>
            <a:ext cx="3291840" cy="169164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9927" y="2103120"/>
            <a:ext cx="3291840" cy="411480"/>
          </a:xfrm>
          <a:prstGeom prst="rect">
            <a:avLst/>
          </a:prstGeom>
          <a:solidFill>
            <a:srgbClr val="29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807" y="2139696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@staging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2697479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candidate ·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320040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alias set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14919" y="2880360"/>
            <a:ext cx="493775" cy="201168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1847" y="2103120"/>
            <a:ext cx="3291840" cy="169164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1847" y="2103120"/>
            <a:ext cx="3291840" cy="411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4727" y="2139696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@production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4727" y="2697479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serves /invocations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4727" y="320040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  <a:latin typeface="Calibri"/>
              </a:rPr>
              <a:t>alias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11091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Command-line interface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11091672" cy="1554480"/>
          </a:xfrm>
          <a:prstGeom prst="rect">
            <a:avLst/>
          </a:prstGeom>
          <a:solidFill>
            <a:srgbClr val="F1F1F1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690872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python -m src.registry register-best
python -m src.registry transition 2 staging
python -m src.registry transition 2 production
python -m src.registry 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6 · Model 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MLflow's built-in scoring server — zero serving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420624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5120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93776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mlflow models serve \
  --model-uri \
    models:/telco-churn-classifier@production \
  --port 5001 \
  --no-conda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GET   /ping            —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POST  /invocations     — dataframe_split payload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5486400" cy="420624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514600"/>
            <a:ext cx="5120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578608"/>
            <a:ext cx="493776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{ "dataframe_split": {
    "columns": [...19 features...],
    "data":    [[ "Female", 0, "Yes", ... ]]
}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43484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526280"/>
            <a:ext cx="4937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onsolas"/>
              </a:rPr>
              <a:t>{ "predictions": [0, 1, 0]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0352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1">
                <a:solidFill>
                  <a:srgbClr val="5A5A5A"/>
                </a:solidFill>
                <a:latin typeface="Calibri"/>
              </a:rPr>
              <a:t>MLflow reconstructs the sklearn Pipeline from the registry artifact.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7 ·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Drift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Three simulated production batches — logged as MLflow runs.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13232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92023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03120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max PSI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03120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103120"/>
            <a:ext cx="192023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prod_roc_auc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7132320" cy="5943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7919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onsolas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7919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7919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5A5A5A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79192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0.834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713232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7355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onsolas"/>
              </a:rPr>
              <a:t>feature_drift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27355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B01B1B"/>
                </a:solidFill>
                <a:latin typeface="Calibri"/>
              </a:rPr>
              <a:t>1.49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273552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46C43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273552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0.843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713232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03320"/>
            <a:ext cx="7132320" cy="5943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67911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onsolas"/>
              </a:rPr>
              <a:t>concept_drift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867911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867911"/>
            <a:ext cx="1280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5A5A5A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867911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B01B1B"/>
                </a:solidFill>
                <a:latin typeface="Calibri"/>
              </a:rPr>
              <a:t>0.654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97680"/>
            <a:ext cx="7132320" cy="381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2011680"/>
            <a:ext cx="3840480" cy="3291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2148840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560320"/>
            <a:ext cx="35661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PSI fires correctly on feature drift.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246120"/>
            <a:ext cx="35661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Performance stays stable under that drift — model generalises.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114800"/>
            <a:ext cx="35661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Concept drift is invisible to PSI — features unchanged, but performance collapses.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1">
                <a:solidFill>
                  <a:srgbClr val="0B2A4A"/>
                </a:solidFill>
                <a:latin typeface="Calibri"/>
              </a:rPr>
              <a:t>→ Production monitoring must combine input distribution checks with performance metrics on labelled samples.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8 · Drift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What MLflow Gave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Four concrete wins observed during the project.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91672" cy="105156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39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Single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Every parameter, metric, and artifact lives in one searchable store. No ad-hoc spreadsheets or screenshots.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11091672" cy="105156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8211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82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Registry decouples training from serving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66160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Promoting a new model is a one-line alias change; the serving layer reads from @production and never imports model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11091672" cy="105156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2511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Pipeline-as-artifact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09159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 full sklearn Pipeline (preprocessor + estimator) is the model — this eliminates an entire class of training/serving skew bugs.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F7F8FA"/>
          </a:solidFill>
          <a:ln w="6350">
            <a:solidFill>
              <a:srgbClr val="B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46811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68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One API for the full lifecycle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52159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train · tune · register · serve · monitor all use the same client. Small surface area to learn and operate.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46520"/>
            <a:ext cx="11091672" cy="508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Slide 9 · What MLflow gave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6510528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1">
                <a:solidFill>
                  <a:srgbClr val="5A5A5A"/>
                </a:solidFill>
                <a:latin typeface="Calibri"/>
              </a:rPr>
              <a:t>Mohamed Dribika · 2280197 · AIN-3009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§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76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Honest gaps &amp; natural next steps in a real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1091672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Threshold not tuned — using 0.5; production needs a cost-aware threshold.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No automatic rollback on drift alert — natural extension: gate the @production alias on a rolling performance window.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Local SQLite backend store; multi-writer production would use Postgres and S3 / GCS object storage.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 b="0">
                <a:solidFill>
                  <a:srgbClr val="1A1A1A"/>
                </a:solidFill>
                <a:latin typeface="Calibri"/>
              </a:rPr>
              <a:t>Class imbalance only mild (~27 %), so no SMOTE / class weights — worth a sweep for the F1-vs-recall trade-off.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1091672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